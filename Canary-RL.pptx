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C98A14"/>
                </a:solidFill>
                <a:latin typeface="Calibri"/>
              </a:rPr>
              <a:t>An RL-training fake-validation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972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Canary-RL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0">
                <a:solidFill>
                  <a:srgbClr val="E6EAF2"/>
                </a:solidFill>
                <a:latin typeface="Calibri"/>
              </a:rPr>
              <a:t>Predicting BT-GRPO failure before training spends an hour of GPU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983480"/>
            <a:ext cx="1828800" cy="0"/>
          </a:xfrm>
          <a:prstGeom prst="line">
            <a:avLst/>
          </a:prstGeom>
          <a:ln w="31750">
            <a:solidFill>
              <a:srgbClr val="C98A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C9CFDC"/>
                </a:solidFill>
                <a:latin typeface="Calibri"/>
              </a:rPr>
              <a:t>LLaDA-8B-Instruct · GSM8K · 19 historical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19 runs in, every BT-GRPO collapsed differently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F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Each failed run cost ~hours of 8-GPU compute. Failures only became visible thousands of steps in,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long after the launch script was already wrong.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164592" cy="411480"/>
          </a:xfrm>
          <a:prstGeom prst="rect">
            <a:avLst/>
          </a:prstGeom>
          <a:solidFill>
            <a:srgbClr val="C83232"/>
          </a:solidFill>
          <a:ln w="12700">
            <a:solidFill>
              <a:srgbClr val="C8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1760"/>
            <a:ext cx="23774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run12 / run13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31760"/>
            <a:ext cx="8229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grad blew up to 80k–331k after step 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164592" cy="411480"/>
          </a:xfrm>
          <a:prstGeom prst="rect">
            <a:avLst/>
          </a:prstGeom>
          <a:solidFill>
            <a:srgbClr val="C83232"/>
          </a:solidFill>
          <a:ln w="12700">
            <a:solidFill>
              <a:srgbClr val="C8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34680"/>
            <a:ext cx="23774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run14 / run15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134680"/>
            <a:ext cx="8229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fork-head saturated at boundary; reward stalled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64592" cy="411480"/>
          </a:xfrm>
          <a:prstGeom prst="rect">
            <a:avLst/>
          </a:prstGeom>
          <a:solidFill>
            <a:srgbClr val="C83232"/>
          </a:solidFill>
          <a:ln w="12700">
            <a:solidFill>
              <a:srgbClr val="C8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37600"/>
            <a:ext cx="23774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run17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37600"/>
            <a:ext cx="8229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27× reward-weight ratio → format-collapse reward hack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60520"/>
            <a:ext cx="164592" cy="411480"/>
          </a:xfrm>
          <a:prstGeom prst="rect">
            <a:avLst/>
          </a:prstGeom>
          <a:solidFill>
            <a:srgbClr val="C83232"/>
          </a:solidFill>
          <a:ln w="12700">
            <a:solidFill>
              <a:srgbClr val="C8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40520"/>
            <a:ext cx="23774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run18 / run19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140520"/>
            <a:ext cx="8229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frac-zero-std stuck &gt; 0.7 → no learning signal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164592" cy="411480"/>
          </a:xfrm>
          <a:prstGeom prst="rect">
            <a:avLst/>
          </a:prstGeom>
          <a:solidFill>
            <a:srgbClr val="C98A14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43440"/>
            <a:ext cx="23774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run5 / run7 / run10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643440"/>
            <a:ext cx="8229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slow flatlines; corr stayed &lt; 0.30 forever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66360"/>
            <a:ext cx="164592" cy="411480"/>
          </a:xfrm>
          <a:prstGeom prst="rect">
            <a:avLst/>
          </a:prstGeom>
          <a:solidFill>
            <a:srgbClr val="55606E"/>
          </a:solidFill>
          <a:ln w="12700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46360"/>
            <a:ext cx="23774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0 of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146360"/>
            <a:ext cx="8229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ever achieved sustained correctness ≥ 0.30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64240" cy="548640"/>
          </a:xfrm>
          <a:prstGeom prst="roundRect">
            <a:avLst/>
          </a:prstGeom>
          <a:solidFill>
            <a:srgbClr val="FFF6E0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F1F3D"/>
                </a:solidFill>
                <a:latin typeface="Calibri"/>
              </a:rPr>
              <a:t>Question:  can we predict — from the launch script alone — which mode the next run will collapse in?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Calibri"/>
              </a:rPr>
              <a:t>Canary-RL · BT-GRPO failure-prediction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Six early-window failure signatures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F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Calibri"/>
              </a:rPr>
              <a:t>Mined from 8,176 logged steps across 16 runs. Each signature has a calibrated threshold and a tier (abort vs advisory).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06424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3456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2345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234560"/>
            <a:ext cx="4206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Trip 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34560"/>
            <a:ext cx="2651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Historical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1176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onsolas"/>
              </a:rPr>
              <a:t>grad_blowup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117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83232"/>
                </a:solidFill>
                <a:latin typeface="Calibri"/>
              </a:rPr>
              <a:t>Tier-1 abort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11760"/>
            <a:ext cx="4206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max grad-norm &gt; 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711760"/>
            <a:ext cx="2651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alibri"/>
              </a:rPr>
              <a:t>run12 hit 331k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1468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onsolas"/>
              </a:rPr>
              <a:t>starved_signal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1468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Tier-2 advisory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214680"/>
            <a:ext cx="4206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frac_zero_std &gt; 0.5 sustained 5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14680"/>
            <a:ext cx="2651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alibri"/>
              </a:rPr>
              <a:t>run18, run19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1760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onsolas"/>
              </a:rPr>
              <a:t>fork_saturated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71760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Tier-2 advisory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717600"/>
            <a:ext cx="4206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fork-head μ pinned at fork_frac_min/max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717600"/>
            <a:ext cx="2651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alibri"/>
              </a:rPr>
              <a:t>run14, run15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2052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onsolas"/>
              </a:rPr>
              <a:t>len_collapsing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2205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Tier-2 advisory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220520"/>
            <a:ext cx="4206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completion-length slope &lt; −0.5 tok/step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220520"/>
            <a:ext cx="2651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alibri"/>
              </a:rPr>
              <a:t>run5, run8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2344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onsolas"/>
              </a:rPr>
              <a:t>corr_dead_early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72344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Tier-3 trend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723440"/>
            <a:ext cx="4206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corr &lt; 0.05 by step 50, no upward slope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23440"/>
            <a:ext cx="2651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alibri"/>
              </a:rPr>
              <a:t>rare in our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22636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onsolas"/>
              </a:rPr>
              <a:t>corr_negative_slope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2263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55606E"/>
                </a:solidFill>
                <a:latin typeface="Calibri"/>
              </a:rPr>
              <a:t>Tier-3 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226360"/>
            <a:ext cx="4206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linear corr extrapolates downward at step 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226360"/>
            <a:ext cx="2651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alibri"/>
              </a:rPr>
              <a:t>run5, run17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Calibri"/>
              </a:rPr>
              <a:t>Canary-RL · BT-GRPO failure-prediction stack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Four tiers of fake validation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F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Calibri"/>
              </a:rPr>
              <a:t>Each tier costs less than the next, and runs against information available earlier in the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1064240" cy="960120"/>
          </a:xfrm>
          <a:prstGeom prst="round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359152"/>
            <a:ext cx="640080" cy="640080"/>
          </a:xfrm>
          <a:prstGeom prst="roundRect">
            <a:avLst/>
          </a:prstGeom>
          <a:solidFill>
            <a:srgbClr val="1F7A3D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640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59152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Preflight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9748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onsolas"/>
              </a:rPr>
              <a:t>before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23160"/>
            <a:ext cx="6126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Static checks on launch script: reward-weight balance, parser fixtures, parameter sanity.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11064240" cy="960120"/>
          </a:xfrm>
          <a:prstGeom prst="round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410712"/>
            <a:ext cx="640080" cy="640080"/>
          </a:xfrm>
          <a:prstGeom prst="roundRect">
            <a:avLst/>
          </a:prstGeom>
          <a:solidFill>
            <a:srgbClr val="C83232"/>
          </a:solidFill>
          <a:ln w="12700">
            <a:solidFill>
              <a:srgbClr val="C8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93008"/>
            <a:ext cx="640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410712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Live watcher abort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4904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onsolas"/>
              </a:rPr>
              <a:t>step 1–50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474720"/>
            <a:ext cx="6126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Tail trainer log; fire SIGINT if grad-blowup or sustained signal-starvation tripwire fires.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11064240" cy="960120"/>
          </a:xfrm>
          <a:prstGeom prst="round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462272"/>
            <a:ext cx="640080" cy="640080"/>
          </a:xfrm>
          <a:prstGeom prst="roundRect">
            <a:avLst/>
          </a:prstGeom>
          <a:solidFill>
            <a:srgbClr val="C98A14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44568"/>
            <a:ext cx="640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62272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Live advisory 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8006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onsolas"/>
              </a:rPr>
              <a:t>step 1–50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526280"/>
            <a:ext cx="6126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Six per-step signature glyphs ●/○; surface advisory failures without auto-killing.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49240"/>
            <a:ext cx="11064240" cy="960120"/>
          </a:xfrm>
          <a:prstGeom prst="round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5513832"/>
            <a:ext cx="640080" cy="640080"/>
          </a:xfrm>
          <a:prstGeom prst="roundRect">
            <a:avLst/>
          </a:prstGeom>
          <a:solidFill>
            <a:srgbClr val="0F1F3D"/>
          </a:solidFill>
          <a:ln w="12700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96128"/>
            <a:ext cx="640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513832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Trend extrapolator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85216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5606E"/>
                </a:solidFill>
                <a:latin typeface="Consolas"/>
              </a:rPr>
              <a:t>step 50–200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5577840"/>
            <a:ext cx="6126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Linear fit on (step, correctness) — projects whether corr will ever cross 0.30.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Calibri"/>
              </a:rPr>
              <a:t>Canary-RL · BT-GRPO failure-prediction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Plug-and-play stack around the trainer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F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0" y="3017520"/>
            <a:ext cx="2926080" cy="914400"/>
          </a:xfrm>
          <a:prstGeom prst="roundRect">
            <a:avLst/>
          </a:prstGeom>
          <a:solidFill>
            <a:srgbClr val="0F1F3D"/>
          </a:solidFill>
          <a:ln w="12700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3154680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BT-GRPO 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520440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C9CFDC"/>
                </a:solidFill>
                <a:latin typeface="Consolas"/>
              </a:rPr>
              <a:t>examples/rl/grpo/llada/train_btgrpo.py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468880" cy="777240"/>
          </a:xfrm>
          <a:prstGeom prst="roundRect">
            <a:avLst/>
          </a:prstGeom>
          <a:solidFill>
            <a:srgbClr val="1F7A3D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92808"/>
            <a:ext cx="2468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Preflight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2468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5F5F5"/>
                </a:solidFill>
                <a:latin typeface="Consolas"/>
              </a:rPr>
              <a:t>scripts/canary_preflight.py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2468880" cy="777240"/>
          </a:xfrm>
          <a:prstGeom prst="roundRect">
            <a:avLst/>
          </a:prstGeom>
          <a:solidFill>
            <a:srgbClr val="C98A14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001768"/>
            <a:ext cx="2468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HealthOracle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2468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5F5F5"/>
                </a:solidFill>
                <a:latin typeface="Consolas"/>
              </a:rPr>
              <a:t>scripts/canary_oracle.py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828800"/>
            <a:ext cx="2468880" cy="777240"/>
          </a:xfrm>
          <a:prstGeom prst="roundRect">
            <a:avLst/>
          </a:prstGeom>
          <a:solidFill>
            <a:srgbClr val="C83232"/>
          </a:solidFill>
          <a:ln w="12700">
            <a:solidFill>
              <a:srgbClr val="C8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92808"/>
            <a:ext cx="2468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Live watcher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240280"/>
            <a:ext cx="2468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5F5F5"/>
                </a:solidFill>
                <a:latin typeface="Consolas"/>
              </a:rPr>
              <a:t>scripts/canary_watcher.py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4937760"/>
            <a:ext cx="2468880" cy="777240"/>
          </a:xfrm>
          <a:prstGeom prst="roundRect">
            <a:avLst/>
          </a:prstGeom>
          <a:solidFill>
            <a:srgbClr val="4A6FB0"/>
          </a:solidFill>
          <a:ln w="12700">
            <a:solidFill>
              <a:srgbClr val="4A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5001768"/>
            <a:ext cx="2468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5349240"/>
            <a:ext cx="2468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5F5F5"/>
                </a:solidFill>
                <a:latin typeface="Consolas"/>
              </a:rPr>
              <a:t>dashboard.py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17520" y="2606040"/>
            <a:ext cx="1554480" cy="640080"/>
          </a:xfrm>
          <a:prstGeom prst="bentConnector3">
            <a:avLst/>
          </a:prstGeom>
          <a:ln w="19050">
            <a:solidFill>
              <a:srgbClr val="55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017520" y="3657600"/>
            <a:ext cx="1554480" cy="1691640"/>
          </a:xfrm>
          <a:prstGeom prst="bentConnector3">
            <a:avLst/>
          </a:prstGeom>
          <a:ln w="19050">
            <a:solidFill>
              <a:srgbClr val="55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98079" y="2606040"/>
            <a:ext cx="1691641" cy="640080"/>
          </a:xfrm>
          <a:prstGeom prst="bentConnector3">
            <a:avLst/>
          </a:prstGeom>
          <a:ln w="19050">
            <a:solidFill>
              <a:srgbClr val="55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98079" y="3657600"/>
            <a:ext cx="1691641" cy="1691640"/>
          </a:xfrm>
          <a:prstGeom prst="bentConnector3">
            <a:avLst/>
          </a:prstGeom>
          <a:ln w="19050">
            <a:solidFill>
              <a:srgbClr val="55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5989320"/>
            <a:ext cx="11064240" cy="45720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607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onsolas"/>
              </a:rPr>
              <a:t>scripts/launch_with_canary.sh  —  preflight ▸ trainer ▸ watcher ▸ dashboard, with cleanup on Ctrl-C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Calibri"/>
              </a:rPr>
              <a:t>Canary-RL · BT-GRPO failure-prediction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HealthOracle: predict from launch script alone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F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Inputs:  25 features parsed from any launch_btgrpo_runXX.sh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68580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55606E"/>
                </a:solidFill>
                <a:latin typeface="Consolas"/>
              </a:rPr>
              <a:t>β · ε · learning_rate · lora_r · per_device_bs</a:t>
            </a:r>
          </a:p>
          <a:p>
            <a:pPr algn="l"/>
            <a:r>
              <a:rPr sz="1100" b="0">
                <a:solidFill>
                  <a:srgbClr val="55606E"/>
                </a:solidFill>
                <a:latin typeface="Consolas"/>
              </a:rPr>
              <a:t>num_generations · num_iterations</a:t>
            </a:r>
          </a:p>
          <a:p>
            <a:pPr algn="l"/>
            <a:r>
              <a:rPr sz="1100" b="0">
                <a:solidFill>
                  <a:srgbClr val="55606E"/>
                </a:solidFill>
                <a:latin typeface="Consolas"/>
              </a:rPr>
              <a:t>max_completion_length · block_size</a:t>
            </a:r>
          </a:p>
          <a:p>
            <a:pPr algn="l"/>
            <a:r>
              <a:rPr sz="1100" b="0">
                <a:solidFill>
                  <a:srgbClr val="55606E"/>
                </a:solidFill>
                <a:latin typeface="Consolas"/>
              </a:rPr>
              <a:t>fork_frac · fork_frac_min/max · fork_head_lr</a:t>
            </a:r>
          </a:p>
          <a:p>
            <a:pPr algn="l"/>
            <a:r>
              <a:rPr sz="1100" b="0">
                <a:solidFill>
                  <a:srgbClr val="55606E"/>
                </a:solidFill>
                <a:latin typeface="Consolas"/>
              </a:rPr>
              <a:t>learn_fork_frac · scale_rewards · filter_zero_std/correct</a:t>
            </a:r>
          </a:p>
          <a:p>
            <a:pPr algn="l"/>
            <a:r>
              <a:rPr sz="1100" b="0">
                <a:solidFill>
                  <a:srgbClr val="55606E"/>
                </a:solidFill>
                <a:latin typeface="Consolas"/>
              </a:rPr>
              <a:t>w_xmlcount · w_soft · w_strict · w_int · w_correctness</a:t>
            </a:r>
          </a:p>
          <a:p>
            <a:pPr algn="l"/>
            <a:r>
              <a:rPr sz="1100" b="0">
                <a:solidFill>
                  <a:srgbClr val="55606E"/>
                </a:solidFill>
                <a:latin typeface="Consolas"/>
              </a:rPr>
              <a:t>reward_ratio_max_over_min 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Method:  per-signature LOO logistic regression on 15 historical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68580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one classifier per failure mode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z-scored features, class_weight=balanced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kNN nearest-historical-neighbour (Euclidean in feature space)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rule-based recommendations bound to feature coefficients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91640"/>
            <a:ext cx="4023360" cy="4526280"/>
          </a:xfrm>
          <a:prstGeom prst="roundRect">
            <a:avLst/>
          </a:prstGeom>
          <a:solidFill>
            <a:srgbClr val="F1F4FA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F1F3D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40280"/>
            <a:ext cx="365760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P(failure within 50 steps)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per-signature probabilities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  grad_blowup        0.00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  starved_signal     0.31  ████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  fork_saturated     0.00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  len_collapsing     0.01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  corr_dead_early    0.00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  corr_negative_sl   0.09  ██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Nearest historical analogs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run19  d=9.29  starved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run5   d=11.2  none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Recommendations (rule-based)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Calibri"/>
              </a:rPr>
              <a:t>Canary-RL · BT-GRPO failure-prediction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Leave-one-out: how well does it predict?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F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55606E"/>
                </a:solidFill>
                <a:latin typeface="Calibri"/>
              </a:rPr>
              <a:t>Hold each run out, train on the other 14, predict.  P_any = 1 − ∏(1−Pᵢ).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955279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grad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starve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fork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cDead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cNeg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P_any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12812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95728"/>
            <a:ext cx="7955279" cy="292608"/>
          </a:xfrm>
          <a:prstGeom prst="rect">
            <a:avLst/>
          </a:prstGeom>
          <a:solidFill>
            <a:srgbClr val="FFF8F0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42572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98A14"/>
                </a:solidFill>
                <a:latin typeface="Consolas"/>
              </a:rPr>
              <a:t>FP*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88336"/>
            <a:ext cx="7955279" cy="292608"/>
          </a:xfrm>
          <a:prstGeom prst="rect">
            <a:avLst/>
          </a:prstGeom>
          <a:solidFill>
            <a:srgbClr val="FAFBFC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83232"/>
                </a:solidFill>
                <a:latin typeface="Consola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71833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TP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2980944"/>
            <a:ext cx="7955279" cy="292608"/>
          </a:xfrm>
          <a:prstGeom prst="rect">
            <a:avLst/>
          </a:prstGeom>
          <a:solidFill>
            <a:srgbClr val="FFF8F0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301094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98A14"/>
                </a:solidFill>
                <a:latin typeface="Consolas"/>
              </a:rPr>
              <a:t>FP*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3273552"/>
            <a:ext cx="7955279" cy="292608"/>
          </a:xfrm>
          <a:prstGeom prst="rect">
            <a:avLst/>
          </a:prstGeom>
          <a:solidFill>
            <a:srgbClr val="FAFBFC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83232"/>
                </a:solidFill>
                <a:latin typeface="Consola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0.85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330355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TP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3566160"/>
            <a:ext cx="7955279" cy="292608"/>
          </a:xfrm>
          <a:prstGeom prst="rect">
            <a:avLst/>
          </a:prstGeom>
          <a:solidFill>
            <a:srgbClr val="FFF8F0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6304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9456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0.65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064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0.86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6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6656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80960" y="359616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98A14"/>
                </a:solidFill>
                <a:latin typeface="Consolas"/>
              </a:rPr>
              <a:t>FP*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3858768"/>
            <a:ext cx="7955279" cy="292608"/>
          </a:xfrm>
          <a:prstGeom prst="rect">
            <a:avLst/>
          </a:prstGeom>
          <a:solidFill>
            <a:srgbClr val="FAFBFC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6304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1.00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9456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2608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8912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2064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5216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83232"/>
                </a:solidFill>
                <a:latin typeface="Consolas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1.00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80960" y="388876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TP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4151376"/>
            <a:ext cx="7955279" cy="292608"/>
          </a:xfrm>
          <a:prstGeom prst="rect">
            <a:avLst/>
          </a:prstGeom>
          <a:solidFill>
            <a:srgbClr val="FAFBFC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6304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0.32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9456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2608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0.45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8912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2064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0.41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5216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83232"/>
                </a:solidFill>
                <a:latin typeface="Consolas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6656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80960" y="418137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TP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4443984"/>
            <a:ext cx="7955279" cy="292608"/>
          </a:xfrm>
          <a:prstGeom prst="rect">
            <a:avLst/>
          </a:prstGeom>
          <a:solidFill>
            <a:srgbClr val="FAFBFC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run14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6304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0.74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9456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0.89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2608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0.71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8912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2064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5216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83232"/>
                </a:solidFill>
                <a:latin typeface="Consolas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76656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1.00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80960" y="4473984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TP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8640" y="4736592"/>
            <a:ext cx="7955279" cy="292608"/>
          </a:xfrm>
          <a:prstGeom prst="rect">
            <a:avLst/>
          </a:prstGeom>
          <a:solidFill>
            <a:srgbClr val="FAFBFC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4864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run15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6304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9456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2608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5760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0.18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8912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12064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5216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83232"/>
                </a:solidFill>
                <a:latin typeface="Consolas"/>
              </a:rP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6656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1.00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80960" y="4766592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TP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5029200"/>
            <a:ext cx="7955279" cy="292608"/>
          </a:xfrm>
          <a:prstGeom prst="rect">
            <a:avLst/>
          </a:prstGeom>
          <a:solidFill>
            <a:srgbClr val="FAFBFC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run17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6304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9456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2608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0.14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0.81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8912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12064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0.74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85216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83232"/>
                </a:solidFill>
                <a:latin typeface="Consolas"/>
              </a:rPr>
              <a:t>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6656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1.00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80960" y="5059200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TP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48640" y="5321808"/>
            <a:ext cx="7955279" cy="292608"/>
          </a:xfrm>
          <a:prstGeom prst="rect">
            <a:avLst/>
          </a:prstGeom>
          <a:solidFill>
            <a:srgbClr val="FAFBFC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864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run18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46304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9456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8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0.14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38912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12064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85216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83232"/>
                </a:solidFill>
                <a:latin typeface="Consolas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6656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680960" y="5351808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TP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48640" y="5614416"/>
            <a:ext cx="7955279" cy="292608"/>
          </a:xfrm>
          <a:prstGeom prst="rect">
            <a:avLst/>
          </a:prstGeom>
          <a:solidFill>
            <a:srgbClr val="FAFBFC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4864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run19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6304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19456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0.96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92608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0.79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38912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0.00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12064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0.88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85216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83232"/>
                </a:solidFill>
                <a:latin typeface="Consolas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76656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1.00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680960" y="5644416"/>
            <a:ext cx="868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1F7A3D"/>
                </a:solidFill>
                <a:latin typeface="Consolas"/>
              </a:rPr>
              <a:t>TP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686800" y="2103120"/>
            <a:ext cx="2926080" cy="4023360"/>
          </a:xfrm>
          <a:prstGeom prst="roundRect">
            <a:avLst/>
          </a:prstGeom>
          <a:solidFill>
            <a:srgbClr val="F1F4FA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869680" y="2194560"/>
            <a:ext cx="2743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F1F3D"/>
                </a:solidFill>
                <a:latin typeface="Calibri"/>
              </a:rPr>
              <a:t>Read-out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869680" y="2606040"/>
            <a:ext cx="27432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12 / 12 true failures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→ P_any ≥ 0.51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 “false positives”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run5/7/10 fired no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early signature, but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ALSO ended in flat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failure (corr &lt; 0.30)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→ oracle is right to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flag them.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 truly successful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runs in the corpus.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Calibri"/>
              </a:rPr>
              <a:t>Canary-RL · BT-GRPO failure-prediction stack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Run20 (collapsed) → Run21 (oracle-guided)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F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91640"/>
            <a:ext cx="2926080" cy="1371600"/>
          </a:xfrm>
          <a:prstGeom prst="roundRect">
            <a:avLst/>
          </a:prstGeom>
          <a:solidFill>
            <a:srgbClr val="C83232"/>
          </a:solidFill>
          <a:ln w="12700">
            <a:solidFill>
              <a:srgbClr val="C8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run20  (clone of run19)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92608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P_fail = 0.99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691640"/>
            <a:ext cx="2926080" cy="1371600"/>
          </a:xfrm>
          <a:prstGeom prst="roundRect">
            <a:avLst/>
          </a:prstGeom>
          <a:solidFill>
            <a:srgbClr val="1F7A3D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828800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run21  (oracle-guided)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94560"/>
            <a:ext cx="292608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P_fail = 0.38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2377440"/>
            <a:ext cx="4983480" cy="0"/>
          </a:xfrm>
          <a:prstGeom prst="bentConnector3">
            <a:avLst/>
          </a:prstGeom>
          <a:ln w="31750">
            <a:solidFill>
              <a:srgbClr val="0F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0" y="1920240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F1F3D"/>
                </a:solidFill>
                <a:latin typeface="Calibri"/>
              </a:rPr>
              <a:t>5 knobs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Calibri"/>
              </a:rPr>
              <a:t>predicted by the plugin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1106424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27600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knob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2760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run20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72760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run21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27600"/>
            <a:ext cx="4297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why (signature most affected)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41648"/>
            <a:ext cx="11064240" cy="384048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11648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onsolas"/>
              </a:rPr>
              <a:t>w_strict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111648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83232"/>
                </a:solidFill>
                <a:latin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111648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1F7A3D"/>
                </a:solidFill>
                <a:latin typeface="Consolas"/>
              </a:rPr>
              <a:t>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111648"/>
            <a:ext cx="4297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starved_signal  −0.44 coef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25696"/>
            <a:ext cx="11064240" cy="384048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95696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onsolas"/>
              </a:rPr>
              <a:t>w_int / w_xml / w_soft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495696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83232"/>
                </a:solidFill>
                <a:latin typeface="Consolas"/>
              </a:rPr>
              <a:t>1.0 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495696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1F7A3D"/>
                </a:solidFill>
                <a:latin typeface="Consolas"/>
              </a:rPr>
              <a:t>0.5 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495696"/>
            <a:ext cx="4297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fork_saturated  +reward-ratio  8× → 4×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09744"/>
            <a:ext cx="11064240" cy="384048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7974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onsolas"/>
              </a:rPr>
              <a:t>learn_fork_frac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879744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83232"/>
                </a:solidFill>
                <a:latin typeface="Consolas"/>
              </a:rPr>
              <a:t>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879744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1F7A3D"/>
                </a:solidFill>
                <a:latin typeface="Consolas"/>
              </a:rPr>
              <a:t>False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879744"/>
            <a:ext cx="4297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fork_saturated  +0.74 coef (top driver)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193792"/>
            <a:ext cx="11064240" cy="384048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63792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onsolas"/>
              </a:rPr>
              <a:t>fork_frac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263792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83232"/>
                </a:solidFill>
                <a:latin typeface="Consolas"/>
              </a:rPr>
              <a:t>0.3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263792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1F7A3D"/>
                </a:solidFill>
                <a:latin typeface="Consolas"/>
              </a:rPr>
              <a:t>0.2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263792"/>
            <a:ext cx="4297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corr_negative_slope  +0.60 coef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577840"/>
            <a:ext cx="11064240" cy="384048"/>
          </a:xfrm>
          <a:prstGeom prst="rect">
            <a:avLst/>
          </a:prstGeom>
          <a:noFill/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47840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onsolas"/>
              </a:rPr>
              <a:t>max_completion_length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564784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83232"/>
                </a:solidFill>
                <a:latin typeface="Consolas"/>
              </a:rPr>
              <a:t>512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64784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1F7A3D"/>
                </a:solidFill>
                <a:latin typeface="Consolas"/>
              </a:rPr>
              <a:t>384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647840"/>
            <a:ext cx="4297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starved_signal  +0.46 coef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Calibri"/>
              </a:rPr>
              <a:t>Canary-RL · BT-GRPO failure-prediction stack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98A14"/>
                </a:solidFill>
                <a:latin typeface="Calibri"/>
              </a:rPr>
              <a:t>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Run22 taught us: loss ≠ failure, reward = truth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F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91640"/>
            <a:ext cx="5486400" cy="237744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C8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212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C83232"/>
                </a:solidFill>
                <a:latin typeface="Calibri"/>
              </a:rPr>
              <a:t>run22 numbers (β=0.04, BT-GRPO + dLLM)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212080" cy="1783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step 1   loss = 5.9e8     grad = 1.3e11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step 12  loss = 2.1e8     grad = 3.0e9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kl term  = 5e9 — 6e10     (β·KL drowns policy obj)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watcher v1 → ABORT at step 1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→ scary numbers, looks catastrophic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212080" cy="2377440"/>
          </a:xfrm>
          <a:prstGeom prst="roundRect">
            <a:avLst/>
          </a:prstGeom>
          <a:solidFill>
            <a:srgbClr val="ECF7EC"/>
          </a:solidFill>
          <a:ln w="12700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1F7A3D"/>
                </a:solidFill>
                <a:latin typeface="Calibri"/>
              </a:rPr>
              <a:t>what the model was actually doing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4937760" cy="1783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correctness step 1-4   mean = 0.42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correctness step 9-12  mean = 0.52   (+24%)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best step (12) = 0.72   beats every prior run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→ training was working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  max_grad_norm=1.0 clipped the KL noise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11064240" cy="914400"/>
          </a:xfrm>
          <a:prstGeom prst="roundRect">
            <a:avLst/>
          </a:prstGeom>
          <a:solidFill>
            <a:srgbClr val="FFF6E0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Why loss looks huge but training is 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BT-GRPO uses k3 KL with clamp(r, ±5) → exp(r) ≤ 148 per token × 384 tokens × 64 completions = 3.6M raw KL. Multiplied by β=0.04, the *value* is huge — but ∇r is zero at the clip boundary, so the *gradient* is mostly policy.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49240"/>
            <a:ext cx="11064240" cy="1325880"/>
          </a:xfrm>
          <a:prstGeom prst="roundRect">
            <a:avLst/>
          </a:prstGeom>
          <a:solidFill>
            <a:srgbClr val="F1F4FA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Watcher v2 — re-tuned for BT-GRPO + dLLM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60720"/>
            <a:ext cx="106070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• abort_grad_norm:  1e4 → 1e13   (single-step transient tolerated)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• abort_grad_blowup_thresh:  1e3 → 1e10, frac 0.05 → 0.50  (need majority of window exploded)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• abort_loss_jump_factor:    100  → 1e6     (KL-driven loss swings are routine)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• new advisory: corr_regression — fires when correctness EMA falls 0.25 from peak after step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Calibri"/>
              </a:rPr>
              <a:t>Canary-RL · BT-GRPO failure-prediction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C98A14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What Canary-RL gives us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377440"/>
            <a:ext cx="1828800" cy="0"/>
          </a:xfrm>
          <a:prstGeom prst="line">
            <a:avLst/>
          </a:prstGeom>
          <a:ln w="31750">
            <a:solidFill>
              <a:srgbClr val="C98A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77240" y="2834640"/>
            <a:ext cx="164592" cy="164592"/>
          </a:xfrm>
          <a:prstGeom prst="rect">
            <a:avLst/>
          </a:prstGeom>
          <a:solidFill>
            <a:srgbClr val="C98A14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Predict before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CFDC"/>
                </a:solidFill>
                <a:latin typeface="Calibri"/>
              </a:rPr>
              <a:t>HealthOracle scores any launch script in &lt;1 s using 15-run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547872"/>
            <a:ext cx="164592" cy="164592"/>
          </a:xfrm>
          <a:prstGeom prst="rect">
            <a:avLst/>
          </a:prstGeom>
          <a:solidFill>
            <a:srgbClr val="C98A14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56432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Watch the right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22192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CFDC"/>
                </a:solidFill>
                <a:latin typeface="Calibri"/>
              </a:rPr>
              <a:t>BT-GRPO loss is dominated by KL display value; reward (correctness) is the real learning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61104"/>
            <a:ext cx="164592" cy="164592"/>
          </a:xfrm>
          <a:prstGeom prst="rect">
            <a:avLst/>
          </a:prstGeom>
          <a:solidFill>
            <a:srgbClr val="C98A14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69664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Trainer-aware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35424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CFDC"/>
                </a:solidFill>
                <a:latin typeface="Calibri"/>
              </a:rPr>
              <a:t>Watcher v2 tolerates 1e10 grad transients; AR-trainer regime kept via override.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974336"/>
            <a:ext cx="164592" cy="164592"/>
          </a:xfrm>
          <a:prstGeom prst="rect">
            <a:avLst/>
          </a:prstGeom>
          <a:solidFill>
            <a:srgbClr val="C98A14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882896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Closed feedback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48656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CFDC"/>
                </a:solidFill>
                <a:latin typeface="Calibri"/>
              </a:rPr>
              <a:t>Each run's outcome retrains the oracle — calibration improves over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687568"/>
            <a:ext cx="164592" cy="164592"/>
          </a:xfrm>
          <a:prstGeom prst="rect">
            <a:avLst/>
          </a:prstGeom>
          <a:solidFill>
            <a:srgbClr val="C98A14"/>
          </a:solidFill>
          <a:ln w="12700">
            <a:solidFill>
              <a:srgbClr val="C98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596128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First win on the books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61888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CFDC"/>
                </a:solidFill>
                <a:latin typeface="Calibri"/>
              </a:rPr>
              <a:t>run22: correctness 0.42 → 0.52 in 12 steps despite alarming loss numbers.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4652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C9CFDC"/>
                </a:solidFill>
                <a:latin typeface="Consolas"/>
              </a:rPr>
              <a:t>dllm/pipelines/rl/canary  ·  scripts/canary_*  ·  scripts/launch_with_canary.sh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